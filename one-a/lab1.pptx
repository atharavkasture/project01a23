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6" r:id="rId3"/>
    <p:sldId id="257" r:id="rId4"/>
    <p:sldId id="258" r:id="rId5"/>
    <p:sldId id="259" r:id="rId6"/>
    <p:sldId id="267" r:id="rId7"/>
    <p:sldId id="260" r:id="rId8"/>
    <p:sldId id="261" r:id="rId9"/>
    <p:sldId id="266"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1C451-9E88-F22E-24BD-F7EFD69C29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1D5802-365C-A06E-EA47-5696FDEB31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C32DEF-85B8-2D36-7608-673C39B3C0FF}"/>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5" name="Footer Placeholder 4">
            <a:extLst>
              <a:ext uri="{FF2B5EF4-FFF2-40B4-BE49-F238E27FC236}">
                <a16:creationId xmlns:a16="http://schemas.microsoft.com/office/drawing/2014/main" id="{5B18344D-592D-B16B-DA25-887534A8B5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875715-051A-E284-930B-6836465F05BF}"/>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2643367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26C4-58C5-A132-4B72-EF1FC05937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105960-4C1B-7BAA-5C8C-962B289F26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DC967-E221-68D7-FBC5-333BC6A1843B}"/>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5" name="Footer Placeholder 4">
            <a:extLst>
              <a:ext uri="{FF2B5EF4-FFF2-40B4-BE49-F238E27FC236}">
                <a16:creationId xmlns:a16="http://schemas.microsoft.com/office/drawing/2014/main" id="{1F5AD41F-304A-BBC3-F50E-9B57FDBDDC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5BB36A-E7A0-90A4-92A4-7FFA62F06BB3}"/>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1105227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362DB-A1D4-1FBA-F11B-AD7CB107FA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3D5367-F22D-A37F-E918-3192996EA4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301B15-53BE-7CD5-FA7B-C54BC144770B}"/>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5" name="Footer Placeholder 4">
            <a:extLst>
              <a:ext uri="{FF2B5EF4-FFF2-40B4-BE49-F238E27FC236}">
                <a16:creationId xmlns:a16="http://schemas.microsoft.com/office/drawing/2014/main" id="{14595951-04E7-B4AC-D931-34C1A6A1B1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D991C7-4D91-C62B-0D61-4B2A24019318}"/>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250178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D26FE-9E91-748B-B3F7-E7ACA95081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6B4F80-B844-7491-E4BD-812DB4E06C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34A394-A5CD-F4F4-AB4D-661F136BAA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2CCB2B-619F-D68B-728C-20FFE6A45013}"/>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6" name="Footer Placeholder 5">
            <a:extLst>
              <a:ext uri="{FF2B5EF4-FFF2-40B4-BE49-F238E27FC236}">
                <a16:creationId xmlns:a16="http://schemas.microsoft.com/office/drawing/2014/main" id="{052358AC-9752-F878-7EAB-3C7DB81309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5C0129-9C38-B24F-91D1-D789E80870E9}"/>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1789606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B923F-B333-767D-9CE0-6A2DA12FED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6CFD4E-B594-3CFD-DB0F-D234E1CA54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CE7E87-C328-39FF-2E53-A543438DFB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1ECD95-242B-6E20-472C-859CCF76CD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195194-0FC0-0102-97BC-3168F58B46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825A21-D385-5E2A-1CEC-45C8226F851D}"/>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8" name="Footer Placeholder 7">
            <a:extLst>
              <a:ext uri="{FF2B5EF4-FFF2-40B4-BE49-F238E27FC236}">
                <a16:creationId xmlns:a16="http://schemas.microsoft.com/office/drawing/2014/main" id="{122CA17F-5589-947C-7898-1AB39DD7BE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F49630-E32A-9E57-7A33-212B271E40F3}"/>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1934681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8DB8-024A-33DD-B3E9-C46E2735FF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3046A6-D31E-B373-FE59-3A94B9741EB1}"/>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4" name="Footer Placeholder 3">
            <a:extLst>
              <a:ext uri="{FF2B5EF4-FFF2-40B4-BE49-F238E27FC236}">
                <a16:creationId xmlns:a16="http://schemas.microsoft.com/office/drawing/2014/main" id="{47D0E0AB-D376-BF94-71AD-9B407CCFD4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02B14D-EEAB-859D-48AF-D562BD0FF2DE}"/>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3431828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462B0A-278B-F33F-31F4-27EF8A400F1F}"/>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3" name="Footer Placeholder 2">
            <a:extLst>
              <a:ext uri="{FF2B5EF4-FFF2-40B4-BE49-F238E27FC236}">
                <a16:creationId xmlns:a16="http://schemas.microsoft.com/office/drawing/2014/main" id="{C122667F-3F26-F411-1E14-318AAF902FD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44D019-BD09-E844-D5F0-DFF4CE153340}"/>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3363826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34B6-7212-2245-41C4-06C1CC901A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B0B105-5834-A0B4-D9B4-956DA41835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960C97-1780-67B6-3F4E-BBFE30FA9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00FE35-2A04-DE21-3C90-E5B012441F93}"/>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6" name="Footer Placeholder 5">
            <a:extLst>
              <a:ext uri="{FF2B5EF4-FFF2-40B4-BE49-F238E27FC236}">
                <a16:creationId xmlns:a16="http://schemas.microsoft.com/office/drawing/2014/main" id="{C2520FF9-1427-425A-2A22-8539442726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642128-8BE2-8D7E-77E8-2C8CA62D7940}"/>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3670431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EC1AA-1FF6-6D44-C63D-530CAEBBA2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1FFABD-D565-66F4-79E1-7C6D7D9BB2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EBC9FD-4A7D-A8C8-969E-2906D094D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AE8C2-F6AA-06F9-B025-9EBEC1E61A00}"/>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6" name="Footer Placeholder 5">
            <a:extLst>
              <a:ext uri="{FF2B5EF4-FFF2-40B4-BE49-F238E27FC236}">
                <a16:creationId xmlns:a16="http://schemas.microsoft.com/office/drawing/2014/main" id="{ECDA1663-5100-6BC5-2DFB-33BADD8AAD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2E315C-5131-1F9C-4C8D-A6FD0ABA7BFB}"/>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3338317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6B6DE-71B7-7790-5081-5BAAA4C3A9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E46177-2907-C748-793E-76A694A343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A8403C-6B7F-BC40-CA58-C9083810170F}"/>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5" name="Footer Placeholder 4">
            <a:extLst>
              <a:ext uri="{FF2B5EF4-FFF2-40B4-BE49-F238E27FC236}">
                <a16:creationId xmlns:a16="http://schemas.microsoft.com/office/drawing/2014/main" id="{72F88041-AD73-BF77-A7C0-E654A939A5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B0A5F-C77C-7DE8-7708-457A83D17B84}"/>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1310271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64F093-613D-9239-CBC4-EFFEA49958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55C180-B71F-69E6-5E54-9644B5CA7F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2C48A-C385-64AB-27ED-71BB874CA61D}"/>
              </a:ext>
            </a:extLst>
          </p:cNvPr>
          <p:cNvSpPr>
            <a:spLocks noGrp="1"/>
          </p:cNvSpPr>
          <p:nvPr>
            <p:ph type="dt" sz="half" idx="10"/>
          </p:nvPr>
        </p:nvSpPr>
        <p:spPr/>
        <p:txBody>
          <a:bodyPr/>
          <a:lstStyle/>
          <a:p>
            <a:fld id="{B34BE2A9-FCA1-4950-B401-8834DF34596F}" type="datetimeFigureOut">
              <a:rPr lang="en-IN" smtClean="0"/>
              <a:t>09-07-2025</a:t>
            </a:fld>
            <a:endParaRPr lang="en-IN"/>
          </a:p>
        </p:txBody>
      </p:sp>
      <p:sp>
        <p:nvSpPr>
          <p:cNvPr id="5" name="Footer Placeholder 4">
            <a:extLst>
              <a:ext uri="{FF2B5EF4-FFF2-40B4-BE49-F238E27FC236}">
                <a16:creationId xmlns:a16="http://schemas.microsoft.com/office/drawing/2014/main" id="{ED8E2C22-177A-8581-28A3-4311791273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764D1B-2228-1FC9-A6C6-5C0CA702D565}"/>
              </a:ext>
            </a:extLst>
          </p:cNvPr>
          <p:cNvSpPr>
            <a:spLocks noGrp="1"/>
          </p:cNvSpPr>
          <p:nvPr>
            <p:ph type="sldNum" sz="quarter" idx="12"/>
          </p:nvPr>
        </p:nvSpPr>
        <p:spPr/>
        <p:txBody>
          <a:bodyPr/>
          <a:lstStyle/>
          <a:p>
            <a:fld id="{60724620-9A3A-4AF0-96F6-A94B803E05F2}" type="slidenum">
              <a:rPr lang="en-IN" smtClean="0"/>
              <a:t>‹#›</a:t>
            </a:fld>
            <a:endParaRPr lang="en-IN"/>
          </a:p>
        </p:txBody>
      </p:sp>
    </p:spTree>
    <p:extLst>
      <p:ext uri="{BB962C8B-B14F-4D97-AF65-F5344CB8AC3E}">
        <p14:creationId xmlns:p14="http://schemas.microsoft.com/office/powerpoint/2010/main" val="3714311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F4F0CC-44AA-93EE-2F89-98A826672D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848DBD-5632-8394-7081-92D2B6BB3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DD928-C0FE-B6D5-64EB-C945E6D024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4BE2A9-FCA1-4950-B401-8834DF34596F}" type="datetimeFigureOut">
              <a:rPr lang="en-IN" smtClean="0"/>
              <a:t>09-07-2025</a:t>
            </a:fld>
            <a:endParaRPr lang="en-IN"/>
          </a:p>
        </p:txBody>
      </p:sp>
      <p:sp>
        <p:nvSpPr>
          <p:cNvPr id="5" name="Footer Placeholder 4">
            <a:extLst>
              <a:ext uri="{FF2B5EF4-FFF2-40B4-BE49-F238E27FC236}">
                <a16:creationId xmlns:a16="http://schemas.microsoft.com/office/drawing/2014/main" id="{13E103BE-E4B2-D3BD-E0CD-0B4B5A2E68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75BEDC-0D06-5FCC-788B-F6264C76CD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724620-9A3A-4AF0-96F6-A94B803E05F2}" type="slidenum">
              <a:rPr lang="en-IN" smtClean="0"/>
              <a:t>‹#›</a:t>
            </a:fld>
            <a:endParaRPr lang="en-IN"/>
          </a:p>
        </p:txBody>
      </p:sp>
    </p:spTree>
    <p:extLst>
      <p:ext uri="{BB962C8B-B14F-4D97-AF65-F5344CB8AC3E}">
        <p14:creationId xmlns:p14="http://schemas.microsoft.com/office/powerpoint/2010/main" val="2092917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BBC3EE-6346-476F-2854-90852CEA34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269" y="3429000"/>
            <a:ext cx="8748712" cy="2881313"/>
          </a:xfrm>
          <a:prstGeom prst="rect">
            <a:avLst/>
          </a:prstGeom>
        </p:spPr>
      </p:pic>
      <p:sp>
        <p:nvSpPr>
          <p:cNvPr id="7" name="TextBox 6">
            <a:extLst>
              <a:ext uri="{FF2B5EF4-FFF2-40B4-BE49-F238E27FC236}">
                <a16:creationId xmlns:a16="http://schemas.microsoft.com/office/drawing/2014/main" id="{D7FABB56-26BC-72A8-3B28-0572B333FC88}"/>
              </a:ext>
            </a:extLst>
          </p:cNvPr>
          <p:cNvSpPr txBox="1"/>
          <p:nvPr/>
        </p:nvSpPr>
        <p:spPr>
          <a:xfrm>
            <a:off x="285750" y="313373"/>
            <a:ext cx="11715750" cy="2554545"/>
          </a:xfrm>
          <a:prstGeom prst="rect">
            <a:avLst/>
          </a:prstGeom>
          <a:noFill/>
        </p:spPr>
        <p:txBody>
          <a:bodyPr wrap="square">
            <a:spAutoFit/>
          </a:bodyPr>
          <a:lstStyle/>
          <a:p>
            <a:pPr algn="just"/>
            <a:r>
              <a:rPr lang="en-IN" sz="3200" b="1" dirty="0"/>
              <a:t>Problem Statement:</a:t>
            </a:r>
          </a:p>
          <a:p>
            <a:pPr algn="just"/>
            <a:endParaRPr lang="en-IN" sz="3200" b="1" dirty="0"/>
          </a:p>
          <a:p>
            <a:pPr algn="just"/>
            <a:r>
              <a:rPr lang="en-IN" sz="3200" b="1" dirty="0"/>
              <a:t>Setting up small wired computer network: Set up a small wired network of 2 to 4 computers using Hub/Switch. It includes Preparation of Cables and setting up wired network.</a:t>
            </a:r>
          </a:p>
        </p:txBody>
      </p:sp>
    </p:spTree>
    <p:extLst>
      <p:ext uri="{BB962C8B-B14F-4D97-AF65-F5344CB8AC3E}">
        <p14:creationId xmlns:p14="http://schemas.microsoft.com/office/powerpoint/2010/main" val="2660661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AA44AF1-5F0C-3168-703F-2B694D7DA0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3075" y="457200"/>
            <a:ext cx="9129713" cy="540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264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E12217-1E73-A566-B86F-7E27A821CC68}"/>
              </a:ext>
            </a:extLst>
          </p:cNvPr>
          <p:cNvSpPr txBox="1"/>
          <p:nvPr/>
        </p:nvSpPr>
        <p:spPr>
          <a:xfrm>
            <a:off x="603647" y="475773"/>
            <a:ext cx="11212115" cy="1815882"/>
          </a:xfrm>
          <a:prstGeom prst="rect">
            <a:avLst/>
          </a:prstGeom>
          <a:noFill/>
        </p:spPr>
        <p:txBody>
          <a:bodyPr wrap="square">
            <a:spAutoFit/>
          </a:bodyPr>
          <a:lstStyle/>
          <a:p>
            <a:r>
              <a:rPr lang="en-GB" sz="2800" b="0" i="0" dirty="0">
                <a:solidFill>
                  <a:srgbClr val="001D35"/>
                </a:solidFill>
                <a:effectLst/>
                <a:highlight>
                  <a:srgbClr val="FFFFFF"/>
                </a:highlight>
                <a:latin typeface="Times New Roman" panose="02020603050405020304" pitchFamily="18" charset="0"/>
                <a:cs typeface="Times New Roman" panose="02020603050405020304" pitchFamily="18" charset="0"/>
              </a:rPr>
              <a:t>To transfer data between two laptops using an RJ45 (Ethernet) cable, you need to connect the laptops, enable file sharing, and then transfer the files. This involves configuring network settings on both laptops to allow them to see each other and then using the file explorer to copy files.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92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E12217-1E73-A566-B86F-7E27A821CC68}"/>
              </a:ext>
            </a:extLst>
          </p:cNvPr>
          <p:cNvSpPr txBox="1"/>
          <p:nvPr/>
        </p:nvSpPr>
        <p:spPr>
          <a:xfrm>
            <a:off x="603647" y="475773"/>
            <a:ext cx="11212115" cy="1384995"/>
          </a:xfrm>
          <a:prstGeom prst="rect">
            <a:avLst/>
          </a:prstGeom>
          <a:noFill/>
        </p:spPr>
        <p:txBody>
          <a:bodyPr wrap="square">
            <a:spAutoFit/>
          </a:bodyPr>
          <a:lstStyle/>
          <a:p>
            <a:pPr algn="l"/>
            <a:r>
              <a:rPr lang="en-GB" sz="2800" b="0" i="0" dirty="0">
                <a:solidFill>
                  <a:srgbClr val="001D35"/>
                </a:solidFill>
                <a:effectLst/>
                <a:highlight>
                  <a:srgbClr val="FFFFFF"/>
                </a:highlight>
                <a:latin typeface="Google Sans"/>
              </a:rPr>
              <a:t>1. Connect the Laptops:</a:t>
            </a:r>
          </a:p>
          <a:p>
            <a:pPr algn="l">
              <a:buFont typeface="Arial" panose="020B0604020202020204" pitchFamily="34" charset="0"/>
              <a:buChar char="•"/>
            </a:pPr>
            <a:r>
              <a:rPr lang="en-GB" sz="2800" b="0" i="0" dirty="0">
                <a:solidFill>
                  <a:srgbClr val="001D35"/>
                </a:solidFill>
                <a:effectLst/>
                <a:highlight>
                  <a:srgbClr val="FFFFFF"/>
                </a:highlight>
                <a:latin typeface="Google Sans"/>
              </a:rPr>
              <a:t>Locate the Ethernet port on each laptop.</a:t>
            </a:r>
          </a:p>
          <a:p>
            <a:pPr algn="l">
              <a:buFont typeface="Arial" panose="020B0604020202020204" pitchFamily="34" charset="0"/>
              <a:buChar char="•"/>
            </a:pPr>
            <a:r>
              <a:rPr lang="en-GB" sz="2800" b="0" i="0" dirty="0">
                <a:solidFill>
                  <a:srgbClr val="001D35"/>
                </a:solidFill>
                <a:effectLst/>
                <a:highlight>
                  <a:srgbClr val="FFFFFF"/>
                </a:highlight>
                <a:latin typeface="Google Sans"/>
              </a:rPr>
              <a:t>Plug one end of the RJ45 cable into each laptop's Ethernet port. </a:t>
            </a:r>
          </a:p>
        </p:txBody>
      </p:sp>
    </p:spTree>
    <p:extLst>
      <p:ext uri="{BB962C8B-B14F-4D97-AF65-F5344CB8AC3E}">
        <p14:creationId xmlns:p14="http://schemas.microsoft.com/office/powerpoint/2010/main" val="4221425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C48E63-A904-05E7-E933-37BB0B24E31D}"/>
              </a:ext>
            </a:extLst>
          </p:cNvPr>
          <p:cNvSpPr txBox="1"/>
          <p:nvPr/>
        </p:nvSpPr>
        <p:spPr>
          <a:xfrm>
            <a:off x="717947" y="440501"/>
            <a:ext cx="10912077" cy="5016758"/>
          </a:xfrm>
          <a:prstGeom prst="rect">
            <a:avLst/>
          </a:prstGeom>
          <a:noFill/>
        </p:spPr>
        <p:txBody>
          <a:bodyPr wrap="square">
            <a:spAutoFit/>
          </a:bodyPr>
          <a:lstStyle/>
          <a:p>
            <a:pPr algn="l"/>
            <a:r>
              <a:rPr lang="en-GB" sz="3200" b="0" i="0" dirty="0">
                <a:solidFill>
                  <a:srgbClr val="001D35"/>
                </a:solidFill>
                <a:effectLst/>
                <a:highlight>
                  <a:srgbClr val="FFFFFF"/>
                </a:highlight>
                <a:latin typeface="Google Sans"/>
              </a:rPr>
              <a:t>2. Configure Network Settings:</a:t>
            </a:r>
          </a:p>
          <a:p>
            <a:pPr algn="l">
              <a:buFont typeface="Arial" panose="020B0604020202020204" pitchFamily="34" charset="0"/>
              <a:buChar char="•"/>
            </a:pPr>
            <a:r>
              <a:rPr lang="en-GB" sz="3200" b="1" i="0" dirty="0">
                <a:solidFill>
                  <a:srgbClr val="001D35"/>
                </a:solidFill>
                <a:effectLst/>
                <a:highlight>
                  <a:srgbClr val="FFFFFF"/>
                </a:highlight>
                <a:latin typeface="Google Sans"/>
              </a:rPr>
              <a:t>Enable Network Discovery:</a:t>
            </a:r>
            <a:endParaRPr lang="en-GB" sz="3200" b="0" i="0" dirty="0">
              <a:solidFill>
                <a:srgbClr val="001D35"/>
              </a:solidFill>
              <a:effectLst/>
              <a:highlight>
                <a:srgbClr val="FFFFFF"/>
              </a:highlight>
              <a:latin typeface="Google Sans"/>
            </a:endParaRPr>
          </a:p>
          <a:p>
            <a:pPr algn="l">
              <a:buFont typeface="Arial" panose="020B0604020202020204" pitchFamily="34" charset="0"/>
              <a:buChar char="•"/>
            </a:pPr>
            <a:r>
              <a:rPr lang="en-GB" sz="3200" b="0" i="0" dirty="0">
                <a:solidFill>
                  <a:srgbClr val="545D7E"/>
                </a:solidFill>
                <a:effectLst/>
                <a:highlight>
                  <a:srgbClr val="FFFFFF"/>
                </a:highlight>
                <a:latin typeface="Google Sans"/>
              </a:rPr>
              <a:t>Open the Control Panel on both laptops.</a:t>
            </a:r>
          </a:p>
          <a:p>
            <a:pPr algn="l" fontAlgn="ctr">
              <a:buFont typeface="Arial" panose="020B0604020202020204" pitchFamily="34" charset="0"/>
              <a:buChar char="•"/>
            </a:pPr>
            <a:r>
              <a:rPr lang="en-GB" sz="3200" b="0" i="0" dirty="0">
                <a:solidFill>
                  <a:srgbClr val="545D7E"/>
                </a:solidFill>
                <a:effectLst/>
                <a:highlight>
                  <a:srgbClr val="FFFFFF"/>
                </a:highlight>
                <a:latin typeface="Google Sans"/>
              </a:rPr>
              <a:t>Go to Network and Internet -&gt; Network and Sharing </a:t>
            </a:r>
            <a:r>
              <a:rPr lang="en-GB" sz="3200" b="0" i="0" dirty="0" err="1">
                <a:solidFill>
                  <a:srgbClr val="545D7E"/>
                </a:solidFill>
                <a:effectLst/>
                <a:highlight>
                  <a:srgbClr val="FFFFFF"/>
                </a:highlight>
                <a:latin typeface="Google Sans"/>
              </a:rPr>
              <a:t>Center</a:t>
            </a:r>
            <a:r>
              <a:rPr lang="en-GB" sz="3200" b="0" i="0" dirty="0">
                <a:solidFill>
                  <a:srgbClr val="545D7E"/>
                </a:solidFill>
                <a:effectLst/>
                <a:highlight>
                  <a:srgbClr val="FFFFFF"/>
                </a:highlight>
                <a:latin typeface="Google Sans"/>
              </a:rPr>
              <a:t>. </a:t>
            </a:r>
            <a:endParaRPr lang="en-GB" sz="3200" b="0" i="0" dirty="0">
              <a:solidFill>
                <a:srgbClr val="0B57D0"/>
              </a:solidFill>
              <a:effectLst/>
              <a:highlight>
                <a:srgbClr val="FFFFFF"/>
              </a:highlight>
              <a:latin typeface="Google Sans"/>
            </a:endParaRPr>
          </a:p>
          <a:p>
            <a:pPr algn="l" fontAlgn="ctr">
              <a:buFont typeface="Arial" panose="020B0604020202020204" pitchFamily="34" charset="0"/>
              <a:buChar char="•"/>
            </a:pPr>
            <a:r>
              <a:rPr lang="en-GB" sz="3200" b="0" i="0" dirty="0">
                <a:solidFill>
                  <a:srgbClr val="545D7E"/>
                </a:solidFill>
                <a:effectLst/>
                <a:highlight>
                  <a:srgbClr val="FFFFFF"/>
                </a:highlight>
                <a:latin typeface="Google Sans"/>
              </a:rPr>
              <a:t>Click on "Change advanced sharing settings". </a:t>
            </a:r>
            <a:endParaRPr lang="en-GB" sz="3200" b="0" i="0" dirty="0">
              <a:solidFill>
                <a:srgbClr val="0B57D0"/>
              </a:solidFill>
              <a:effectLst/>
              <a:highlight>
                <a:srgbClr val="FFFFFF"/>
              </a:highlight>
              <a:latin typeface="Google Sans"/>
            </a:endParaRPr>
          </a:p>
          <a:p>
            <a:pPr algn="l" fontAlgn="ctr">
              <a:buFont typeface="Arial" panose="020B0604020202020204" pitchFamily="34" charset="0"/>
              <a:buChar char="•"/>
            </a:pPr>
            <a:r>
              <a:rPr lang="en-GB" sz="3200" b="0" i="0" dirty="0">
                <a:solidFill>
                  <a:srgbClr val="545D7E"/>
                </a:solidFill>
                <a:effectLst/>
                <a:highlight>
                  <a:srgbClr val="FFFFFF"/>
                </a:highlight>
                <a:latin typeface="Google Sans"/>
              </a:rPr>
              <a:t>Under "Private" or "Current Profile", turn on Network discovery and File and printer sharing. </a:t>
            </a:r>
            <a:endParaRPr lang="en-GB" sz="3200" b="0" i="0" dirty="0">
              <a:solidFill>
                <a:srgbClr val="0B57D0"/>
              </a:solidFill>
              <a:effectLst/>
              <a:highlight>
                <a:srgbClr val="FFFFFF"/>
              </a:highlight>
              <a:latin typeface="Google Sans"/>
            </a:endParaRPr>
          </a:p>
          <a:p>
            <a:pPr algn="l" fontAlgn="ctr">
              <a:buFont typeface="Arial" panose="020B0604020202020204" pitchFamily="34" charset="0"/>
              <a:buChar char="•"/>
            </a:pPr>
            <a:r>
              <a:rPr lang="en-GB" sz="3200" b="0" i="0" dirty="0">
                <a:solidFill>
                  <a:srgbClr val="545D7E"/>
                </a:solidFill>
                <a:effectLst/>
                <a:highlight>
                  <a:srgbClr val="FFFFFF"/>
                </a:highlight>
                <a:latin typeface="Google Sans"/>
              </a:rPr>
              <a:t>Turn off password protected sharing if desired (this can simplify the process). </a:t>
            </a:r>
            <a:endParaRPr lang="en-GB" sz="3200" b="0" i="0" dirty="0">
              <a:solidFill>
                <a:srgbClr val="0B57D0"/>
              </a:solidFill>
              <a:effectLst/>
              <a:highlight>
                <a:srgbClr val="FFFFFF"/>
              </a:highlight>
              <a:latin typeface="Google Sans"/>
            </a:endParaRPr>
          </a:p>
          <a:p>
            <a:pPr algn="l">
              <a:buFont typeface="Arial" panose="020B0604020202020204" pitchFamily="34" charset="0"/>
              <a:buChar char="•"/>
            </a:pPr>
            <a:r>
              <a:rPr lang="en-GB" sz="3200" b="0" i="0" dirty="0">
                <a:solidFill>
                  <a:srgbClr val="545D7E"/>
                </a:solidFill>
                <a:effectLst/>
                <a:highlight>
                  <a:srgbClr val="FFFFFF"/>
                </a:highlight>
                <a:latin typeface="Google Sans"/>
              </a:rPr>
              <a:t>Click "Save changes". </a:t>
            </a:r>
          </a:p>
        </p:txBody>
      </p:sp>
    </p:spTree>
    <p:extLst>
      <p:ext uri="{BB962C8B-B14F-4D97-AF65-F5344CB8AC3E}">
        <p14:creationId xmlns:p14="http://schemas.microsoft.com/office/powerpoint/2010/main" val="3332113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7E1949-0B29-7AB3-E9D5-8B3ACDEC47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550" y="657225"/>
            <a:ext cx="10244138" cy="5519738"/>
          </a:xfrm>
        </p:spPr>
      </p:pic>
    </p:spTree>
    <p:extLst>
      <p:ext uri="{BB962C8B-B14F-4D97-AF65-F5344CB8AC3E}">
        <p14:creationId xmlns:p14="http://schemas.microsoft.com/office/powerpoint/2010/main" val="3267628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D8A053-1255-17A1-AFFF-7C28F53FACEB}"/>
              </a:ext>
            </a:extLst>
          </p:cNvPr>
          <p:cNvSpPr txBox="1"/>
          <p:nvPr/>
        </p:nvSpPr>
        <p:spPr>
          <a:xfrm>
            <a:off x="602456" y="611952"/>
            <a:ext cx="10987087" cy="5016758"/>
          </a:xfrm>
          <a:prstGeom prst="rect">
            <a:avLst/>
          </a:prstGeom>
          <a:noFill/>
        </p:spPr>
        <p:txBody>
          <a:bodyPr wrap="square">
            <a:spAutoFit/>
          </a:bodyPr>
          <a:lstStyle/>
          <a:p>
            <a:r>
              <a:rPr lang="en-GB" sz="3200" b="1" dirty="0"/>
              <a:t>Assign Static IP Addresses (Optional, but recommended for reliability):</a:t>
            </a:r>
          </a:p>
          <a:p>
            <a:r>
              <a:rPr lang="en-GB" sz="3200" dirty="0"/>
              <a:t>In the Network and Sharing </a:t>
            </a:r>
            <a:r>
              <a:rPr lang="en-GB" sz="3200" dirty="0" err="1"/>
              <a:t>Center</a:t>
            </a:r>
            <a:r>
              <a:rPr lang="en-GB" sz="3200" dirty="0"/>
              <a:t>, click on "Change adapter settings". </a:t>
            </a:r>
          </a:p>
          <a:p>
            <a:r>
              <a:rPr lang="en-GB" sz="3200" dirty="0"/>
              <a:t>Right-click on the Ethernet connection and select "Properties". </a:t>
            </a:r>
          </a:p>
          <a:p>
            <a:r>
              <a:rPr lang="en-GB" sz="3200" dirty="0"/>
              <a:t>Double-click on "Internet Protocol Version 4 (TCP/IPv4)". </a:t>
            </a:r>
          </a:p>
          <a:p>
            <a:r>
              <a:rPr lang="en-GB" sz="3200" dirty="0"/>
              <a:t>Select "Use the following IP address" and assign IP addresses in the same subnet (e.g., 192.168.1.1 and 192.168.1.2 with a subnet mask of 255.255.255.0). </a:t>
            </a:r>
          </a:p>
          <a:p>
            <a:r>
              <a:rPr lang="en-GB" sz="3200" dirty="0"/>
              <a:t>Click "OK" on all dialog boxes. </a:t>
            </a:r>
            <a:endParaRPr lang="en-IN" sz="3200" dirty="0"/>
          </a:p>
        </p:txBody>
      </p:sp>
    </p:spTree>
    <p:extLst>
      <p:ext uri="{BB962C8B-B14F-4D97-AF65-F5344CB8AC3E}">
        <p14:creationId xmlns:p14="http://schemas.microsoft.com/office/powerpoint/2010/main" val="455790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D8A053-1255-17A1-AFFF-7C28F53FACEB}"/>
              </a:ext>
            </a:extLst>
          </p:cNvPr>
          <p:cNvSpPr txBox="1"/>
          <p:nvPr/>
        </p:nvSpPr>
        <p:spPr>
          <a:xfrm>
            <a:off x="602456" y="611952"/>
            <a:ext cx="10987087" cy="5016758"/>
          </a:xfrm>
          <a:prstGeom prst="rect">
            <a:avLst/>
          </a:prstGeom>
          <a:noFill/>
        </p:spPr>
        <p:txBody>
          <a:bodyPr wrap="square">
            <a:spAutoFit/>
          </a:bodyPr>
          <a:lstStyle/>
          <a:p>
            <a:r>
              <a:rPr lang="en-GB" sz="3200" b="1" dirty="0"/>
              <a:t>Assign Static IP Addresses (Optional, but recommended for reliability):</a:t>
            </a:r>
          </a:p>
          <a:p>
            <a:r>
              <a:rPr lang="en-GB" sz="3200" dirty="0"/>
              <a:t>In the Network and Sharing </a:t>
            </a:r>
            <a:r>
              <a:rPr lang="en-GB" sz="3200" dirty="0" err="1"/>
              <a:t>Center</a:t>
            </a:r>
            <a:r>
              <a:rPr lang="en-GB" sz="3200" dirty="0"/>
              <a:t>, click on "Change adapter settings". </a:t>
            </a:r>
          </a:p>
          <a:p>
            <a:r>
              <a:rPr lang="en-GB" sz="3200" dirty="0"/>
              <a:t>Right-click on the Ethernet connection and select "Properties". </a:t>
            </a:r>
          </a:p>
          <a:p>
            <a:r>
              <a:rPr lang="en-GB" sz="3200" dirty="0"/>
              <a:t>Double-click on "Internet Protocol Version 4 (TCP/IPv4)". </a:t>
            </a:r>
          </a:p>
          <a:p>
            <a:r>
              <a:rPr lang="en-GB" sz="3200" dirty="0"/>
              <a:t>Select "Use the following IP address" and assign IP addresses in the same subnet (e.g., 192.168.1.1 and 192.168.1.2 with a subnet mask of 255.255.255.0). </a:t>
            </a:r>
          </a:p>
          <a:p>
            <a:r>
              <a:rPr lang="en-GB" sz="3200" dirty="0"/>
              <a:t>Click "OK" on all dialog boxes. </a:t>
            </a:r>
            <a:endParaRPr lang="en-IN" sz="3200" dirty="0"/>
          </a:p>
        </p:txBody>
      </p:sp>
    </p:spTree>
    <p:extLst>
      <p:ext uri="{BB962C8B-B14F-4D97-AF65-F5344CB8AC3E}">
        <p14:creationId xmlns:p14="http://schemas.microsoft.com/office/powerpoint/2010/main" val="868644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234FC6-2CB7-6451-EDE5-9ACDEEDFC5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175" y="500063"/>
            <a:ext cx="11530013" cy="5676900"/>
          </a:xfrm>
        </p:spPr>
      </p:pic>
    </p:spTree>
    <p:extLst>
      <p:ext uri="{BB962C8B-B14F-4D97-AF65-F5344CB8AC3E}">
        <p14:creationId xmlns:p14="http://schemas.microsoft.com/office/powerpoint/2010/main" val="2252395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3827A3-77A7-7811-D2A6-D9800CBAF12A}"/>
              </a:ext>
            </a:extLst>
          </p:cNvPr>
          <p:cNvSpPr txBox="1"/>
          <p:nvPr/>
        </p:nvSpPr>
        <p:spPr>
          <a:xfrm>
            <a:off x="442913" y="608737"/>
            <a:ext cx="10844212" cy="3046988"/>
          </a:xfrm>
          <a:prstGeom prst="rect">
            <a:avLst/>
          </a:prstGeom>
          <a:noFill/>
        </p:spPr>
        <p:txBody>
          <a:bodyPr wrap="square">
            <a:spAutoFit/>
          </a:bodyPr>
          <a:lstStyle/>
          <a:p>
            <a:r>
              <a:rPr lang="en-GB" sz="3200" b="1" dirty="0"/>
              <a:t>3. Share Folders:</a:t>
            </a:r>
          </a:p>
          <a:p>
            <a:r>
              <a:rPr lang="en-GB" sz="3200" dirty="0"/>
              <a:t>Choose the folder(s) you want to share: Right-click on the folder and select "Give access to" -&gt; "Specific people".</a:t>
            </a:r>
          </a:p>
          <a:p>
            <a:r>
              <a:rPr lang="en-GB" sz="3200" dirty="0"/>
              <a:t>Add "Everyone" to the list of users and grant them "Read/Write" permissions.</a:t>
            </a:r>
          </a:p>
          <a:p>
            <a:r>
              <a:rPr lang="en-GB" sz="3200" dirty="0"/>
              <a:t>Click "Share". </a:t>
            </a:r>
            <a:endParaRPr lang="en-IN" sz="3200" dirty="0"/>
          </a:p>
        </p:txBody>
      </p:sp>
    </p:spTree>
    <p:extLst>
      <p:ext uri="{BB962C8B-B14F-4D97-AF65-F5344CB8AC3E}">
        <p14:creationId xmlns:p14="http://schemas.microsoft.com/office/powerpoint/2010/main" val="3204355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EB57793-0C4C-BEBF-2F32-C4E0143A834A}"/>
              </a:ext>
            </a:extLst>
          </p:cNvPr>
          <p:cNvSpPr>
            <a:spLocks noChangeArrowheads="1"/>
          </p:cNvSpPr>
          <p:nvPr/>
        </p:nvSpPr>
        <p:spPr bwMode="auto">
          <a:xfrm>
            <a:off x="842961" y="719934"/>
            <a:ext cx="10729914" cy="37179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001D35"/>
                </a:solidFill>
                <a:effectLst/>
                <a:latin typeface="Google Sans"/>
              </a:rPr>
              <a:t>4. Access Shared Files:</a:t>
            </a:r>
            <a:endParaRPr kumimoji="0" lang="en-US" altLang="en-US" sz="3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rgbClr val="001D35"/>
                </a:solidFill>
                <a:effectLst/>
                <a:latin typeface="Google Sans"/>
              </a:rPr>
              <a:t>On the receiving laptop, open File Explorer.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rgbClr val="001D35"/>
                </a:solidFill>
                <a:effectLst/>
                <a:latin typeface="Google Sans"/>
              </a:rPr>
              <a:t>Type </a:t>
            </a:r>
            <a:r>
              <a:rPr kumimoji="0" lang="en-US" altLang="en-US" sz="32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\\&lt;IP address of the sending laptop&gt;</a:t>
            </a:r>
            <a:r>
              <a:rPr kumimoji="0" lang="en-US" altLang="en-US" sz="3200" b="0" i="0" u="none" strike="noStrike" cap="none" normalizeH="0" baseline="0" dirty="0">
                <a:ln>
                  <a:noFill/>
                </a:ln>
                <a:solidFill>
                  <a:srgbClr val="001D35"/>
                </a:solidFill>
                <a:effectLst/>
                <a:latin typeface="Google Sans"/>
              </a:rPr>
              <a:t> in the address bar (e.g., </a:t>
            </a:r>
            <a:r>
              <a:rPr kumimoji="0" lang="en-US" altLang="en-US" sz="32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\\192.168.1.1</a:t>
            </a:r>
            <a:r>
              <a:rPr kumimoji="0" lang="en-US" altLang="en-US" sz="3200" b="0" i="0" u="none" strike="noStrike" cap="none" normalizeH="0" baseline="0" dirty="0">
                <a:ln>
                  <a:noFill/>
                </a:ln>
                <a:solidFill>
                  <a:srgbClr val="001D35"/>
                </a:solidFill>
                <a:effectLst/>
                <a:latin typeface="Google Sans"/>
              </a:rPr>
              <a:t>) and press Enter.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rgbClr val="001D35"/>
                </a:solidFill>
                <a:effectLst/>
                <a:latin typeface="Google Sans"/>
              </a:rPr>
              <a:t>You should see the shared folders. You can now copy files from the shared folder to your local drive.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1303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32648C-F2A7-15E2-9003-402532B8991C}"/>
              </a:ext>
            </a:extLst>
          </p:cNvPr>
          <p:cNvSpPr txBox="1"/>
          <p:nvPr/>
        </p:nvSpPr>
        <p:spPr>
          <a:xfrm>
            <a:off x="516731" y="428178"/>
            <a:ext cx="11158538" cy="6001643"/>
          </a:xfrm>
          <a:prstGeom prst="rect">
            <a:avLst/>
          </a:prstGeom>
          <a:noFill/>
        </p:spPr>
        <p:txBody>
          <a:bodyPr wrap="square">
            <a:spAutoFit/>
          </a:bodyPr>
          <a:lstStyle/>
          <a:p>
            <a:r>
              <a:rPr lang="en-GB" sz="3200" b="1" dirty="0"/>
              <a:t>Important Notes:</a:t>
            </a:r>
          </a:p>
          <a:p>
            <a:r>
              <a:rPr lang="en-GB" sz="3200" dirty="0"/>
              <a:t>If either laptop doesn't have an Ethernet port, you'll need a USB to Ethernet adapter. </a:t>
            </a:r>
          </a:p>
          <a:p>
            <a:r>
              <a:rPr lang="en-GB" sz="3200" dirty="0"/>
              <a:t>Ensure both laptops are on the same network (either through static IP addressing or by connecting to the same network). </a:t>
            </a:r>
          </a:p>
          <a:p>
            <a:r>
              <a:rPr lang="en-GB" sz="3200" dirty="0"/>
              <a:t>If you encounter issues with file sharing, ensure that firewalls are not blocking network traffic between the two laptops. </a:t>
            </a:r>
          </a:p>
          <a:p>
            <a:r>
              <a:rPr lang="en-GB" sz="3200" dirty="0"/>
              <a:t>For large file transfers, the Ethernet connection is generally faster than Wi-Fi. </a:t>
            </a:r>
          </a:p>
          <a:p>
            <a:r>
              <a:rPr lang="en-GB" sz="3200" dirty="0"/>
              <a:t>You can also use third-party tools like Any Viewer for file transfer, but the above method is a standard way to share files using a LAN cable. </a:t>
            </a:r>
          </a:p>
        </p:txBody>
      </p:sp>
    </p:spTree>
    <p:extLst>
      <p:ext uri="{BB962C8B-B14F-4D97-AF65-F5344CB8AC3E}">
        <p14:creationId xmlns:p14="http://schemas.microsoft.com/office/powerpoint/2010/main" val="1127687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0A2089-1ED6-E90C-80F4-C74BD823F780}"/>
              </a:ext>
            </a:extLst>
          </p:cNvPr>
          <p:cNvSpPr txBox="1"/>
          <p:nvPr/>
        </p:nvSpPr>
        <p:spPr>
          <a:xfrm>
            <a:off x="2046685" y="1372671"/>
            <a:ext cx="6782990" cy="1077218"/>
          </a:xfrm>
          <a:prstGeom prst="rect">
            <a:avLst/>
          </a:prstGeom>
          <a:noFill/>
        </p:spPr>
        <p:txBody>
          <a:bodyPr wrap="square">
            <a:spAutoFit/>
          </a:bodyPr>
          <a:lstStyle/>
          <a:p>
            <a:r>
              <a:rPr lang="en-IN" sz="3200" dirty="0"/>
              <a:t>https://www.youtube.com/watch?v=Zsd53y0nlz0&amp;t=2s</a:t>
            </a:r>
          </a:p>
        </p:txBody>
      </p:sp>
    </p:spTree>
    <p:extLst>
      <p:ext uri="{BB962C8B-B14F-4D97-AF65-F5344CB8AC3E}">
        <p14:creationId xmlns:p14="http://schemas.microsoft.com/office/powerpoint/2010/main" val="616844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610</Words>
  <Application>Microsoft Office PowerPoint</Application>
  <PresentationFormat>Widescreen</PresentationFormat>
  <Paragraphs>42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Courier New</vt:lpstr>
      <vt:lpstr>Google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 KUMAR</dc:creator>
  <cp:lastModifiedBy>VIJAY KUMAR</cp:lastModifiedBy>
  <cp:revision>23</cp:revision>
  <dcterms:created xsi:type="dcterms:W3CDTF">2025-07-09T05:50:06Z</dcterms:created>
  <dcterms:modified xsi:type="dcterms:W3CDTF">2025-07-09T06:23:22Z</dcterms:modified>
</cp:coreProperties>
</file>